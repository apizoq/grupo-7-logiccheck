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6F936-A9D3-434C-9285-9E32ABC357F3}">
  <a:tblStyle styleId="{A8E6F936-A9D3-434C-9285-9E32ABC357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BEE9667-89D8-4707-BA23-72A43E61767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1966ec1b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1966ec1b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40493" y="1375237"/>
            <a:ext cx="651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LogicCheck Lab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95662" y="2746237"/>
            <a:ext cx="62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5A028"/>
                </a:solidFill>
                <a:latin typeface="DM Sans"/>
                <a:ea typeface="DM Sans"/>
                <a:cs typeface="DM Sans"/>
                <a:sym typeface="DM Sans"/>
              </a:rPr>
              <a:t>Verificador de Satisfacibilidad Proposicional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95624" y="4930752"/>
            <a:ext cx="62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Universidad Nacional de Colombia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95612" y="5554633"/>
            <a:ext cx="62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Ciencias de la Computación | 2026-1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50200" y="3580875"/>
            <a:ext cx="4891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Alaham Daniel Aarón Daza</a:t>
            </a:r>
            <a:endParaRPr sz="18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Andrés Fabricio Pizo Quira </a:t>
            </a:r>
            <a:endParaRPr sz="18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Mariana Zapata Fernández</a:t>
            </a:r>
            <a:endParaRPr sz="18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Tabla de Contenido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2974776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Introducción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48525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Problema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99573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2.1 Definición de Problema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450621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¿Qué es Backtracking?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10375" y="2974776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3.1 Relación con el SAT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10375" y="348525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3.2 Solución con el Modelo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5" y="399573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4. Ejemplo Sencillo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10375" y="4506217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5. Conclusiones y Referencias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477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8525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9573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621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7477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48525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9573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506217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88976"/>
            <a:ext cx="5238750" cy="3413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269855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1. Introducción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517576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LogicCheck Lab es una herramienta educativa diseñada para ilustrar el razonamiento computacional sobre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fórmulas proposicionales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706117"/>
            <a:ext cx="52387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objetivo es construir un verificador (SAT solver) que determine si existe una asignación de valores de verdad que haga verdadera una fórmula lógica dada.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67500" y="3336726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Propósito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0" y="3908226"/>
            <a:ext cx="46672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Explorar el espacio de asignaciones mediante algoritmos eficientes, aplicando técnicas de poda para optimizar la búsqueda.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288083"/>
            <a:ext cx="419100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5225"/>
            <a:ext cx="62865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6346" y="3930550"/>
            <a:ext cx="1116806" cy="1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2. El Problema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516683"/>
            <a:ext cx="62865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evaluar la satisfacibilidad de una fórmula con </a:t>
            </a:r>
            <a:r>
              <a:rPr b="0" i="1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variables, el enfoque de fuerza bruta (tablas de verdad) enfrenta una barrera crítica: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4514850"/>
            <a:ext cx="62865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medida que </a:t>
            </a:r>
            <a:r>
              <a:rPr b="0" i="1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crece, el número de combinaciones posibles aumenta exponencialmente, haciendo inviable el proceso para sistemas reales.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0" y="2650033"/>
            <a:ext cx="38004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Inviabilidad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0" y="3221533"/>
            <a:ext cx="36195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tablas de verdad completas consumen recursos excesivos en tiempo y memoria para fórmulas moderadamente grandes.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114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114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1145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2.1 Definición del Problema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27527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Reto Computacional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3324225"/>
            <a:ext cx="292104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Identificar una asignación válida sin recorrer todo el espacio de búsqueda.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35549" y="27527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Optimización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35549" y="3324225"/>
            <a:ext cx="292104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Necesidad de descartar ramas del árbol de decisión que no contienen soluciones.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413849" y="27527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Modelo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413849" y="3324225"/>
            <a:ext cx="292104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Transformar el problema iterativo en una búsqueda recursiva inteligente.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1475"/>
            <a:ext cx="52387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2451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3. ¿Qué es Backtracking?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2270075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una estrategia algorítmica para encontrar soluciones a problemas que satisfacen restricciones.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67500" y="3089225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"Vuelta Atrás"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667500" y="3660725"/>
            <a:ext cx="46672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Evita el camino del "error total" limpiando el estado actual y reiniciando la búsqueda desde el último punto válido.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0125" y="3458616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Exploración: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Construye candidatos a solución paso a paso.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00125" y="4289077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Validación: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un candidato no puede completarse, se abandona.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5119538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Retroceso: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Vuelve al paso anterior para probar alternativas.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861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8907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19538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09787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3.1 Backtracking y el SAT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2319337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espacio de soluciones se modela como un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árbol binario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810375" y="3187898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Niveles: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Cada nivel representa una variable proposicional.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810375" y="4018359"/>
            <a:ext cx="4810125" cy="6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Ramas: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Representan la asignación de True o False.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810375" y="4867870"/>
            <a:ext cx="4810125" cy="6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Hojas: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Determinan si la fórmula es SAT o UNSAT.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87898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1835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6787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04975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5076" y="3415605"/>
            <a:ext cx="1505247" cy="149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38775" y="3735585"/>
            <a:ext cx="1314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3.2 Solución con el Modelo (Formalismo)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57250" y="20669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Solución Parcial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57250" y="2638425"/>
            <a:ext cx="292104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conjunto de pares: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635549" y="20669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Candidatos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635549" y="2638425"/>
            <a:ext cx="29210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cada variable libre, el conjunto está limitado a: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413849" y="206692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Criterio de Poda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413849" y="2638425"/>
            <a:ext cx="292104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una cláusula es definitivamente falsa bajo la asignación parcial, se activa el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pruning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907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09787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3.2 Solución con el Modelo (Retroceso)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231933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Mecanismo de Backtrack: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00125" y="2867917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una rama genera una contradicción, el algoritmo deshace la última asignación.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00125" y="3698378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realiza una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limpieza del estado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 el diccionario de variables.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000125" y="4528839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regresa al nivel anterior para probar el candidato alternativo.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6791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8378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28839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71500" y="571500"/>
            <a:ext cx="520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4. Ejemplo Sencil</a:t>
            </a: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l</a:t>
            </a: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o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1285875"/>
            <a:ext cx="4953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71575" y="1628775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Mini-Sudoku (2 celdas)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2152650"/>
            <a:ext cx="4953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empresa de software requiere soporte de fin de semana. Debemos modelar la asignación de tres programadores:</a:t>
            </a:r>
            <a:r>
              <a:rPr lang="en-U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000125" y="3251745"/>
            <a:ext cx="452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A. </a:t>
            </a:r>
            <a:r>
              <a:rPr lang="en-US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-US" sz="17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</a:t>
            </a:r>
            <a:r>
              <a:rPr lang="en-US" sz="17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Trabaja (V/F)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000125" y="3762226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B. </a:t>
            </a:r>
            <a:r>
              <a:rPr lang="en-US" sz="1650">
                <a:solidFill>
                  <a:schemeClr val="dk1"/>
                </a:solidFill>
              </a:rPr>
              <a:t> </a:t>
            </a:r>
            <a:r>
              <a:rPr b="1" lang="en-U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Beto:</a:t>
            </a:r>
            <a:r>
              <a:rPr lang="en-U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chemeClr val="dk1"/>
                </a:solidFill>
              </a:rPr>
              <a:t>Trabaja (V/F)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1000125" y="4226812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C. Carlos (</a:t>
            </a:r>
            <a:r>
              <a:rPr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Trabaja V/F)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5174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222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72712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6419225" y="422525"/>
            <a:ext cx="54117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Restricciones finales </a:t>
            </a:r>
            <a:endParaRPr b="1" sz="3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 Regla 1.</a:t>
            </a:r>
            <a:r>
              <a:rPr lang="en-US" sz="17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menos uno de los tres debe estar presente en el turno.</a:t>
            </a:r>
            <a:r>
              <a:rPr lang="en-US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 Regla 2: Ana y Beto no pueden trabajar juntos (conflicto personal).</a:t>
            </a:r>
            <a:endParaRPr sz="18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 Regla 3: Si Carlos (junior) trabaja, Ana debe supervisarlo.</a:t>
            </a:r>
            <a:endParaRPr sz="18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 Regla 4: Beto es el líder este mes y debe trabajar obligatoriamente.</a:t>
            </a:r>
            <a:endParaRPr sz="18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574600" y="1533525"/>
            <a:ext cx="2763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574600" y="2468700"/>
            <a:ext cx="2763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574600" y="3574850"/>
            <a:ext cx="2763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574600" y="4681000"/>
            <a:ext cx="2763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23"/>
          <p:cNvSpPr txBox="1"/>
          <p:nvPr/>
        </p:nvSpPr>
        <p:spPr>
          <a:xfrm>
            <a:off x="685800" y="650600"/>
            <a:ext cx="864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Modelado </a:t>
            </a:r>
            <a:r>
              <a:rPr b="1" lang="en-US" sz="3600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lógico</a:t>
            </a:r>
            <a:r>
              <a:rPr b="1" lang="en-US" sz="3600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 y solución.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1285875"/>
            <a:ext cx="4953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23"/>
          <p:cNvGraphicFramePr/>
          <p:nvPr/>
        </p:nvGraphicFramePr>
        <p:xfrm>
          <a:off x="952500" y="200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{A8E6F936-A9D3-434C-9285-9E32ABC357F3}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Regla del negocio.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Formato Lógico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Cláusula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 menos uno trabaja.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(A v B v C)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[“A”, “B”, “C”]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pueden estar A y B juntos.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highlight>
                            <a:srgbClr val="FDF5E6"/>
                          </a:highlight>
                        </a:rPr>
                        <a:t>¬(A ∧ B) ≡ (¬A ∨ ¬B)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highlight>
                            <a:srgbClr val="FDF5E6"/>
                          </a:highlight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DF5E6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[“-A”, “-B”]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 C entonces A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highlight>
                            <a:schemeClr val="lt2"/>
                          </a:highlight>
                        </a:rPr>
                        <a:t>C → A ≡ (¬C ∨ A)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highlight>
                            <a:schemeClr val="lt2"/>
                          </a:highlight>
                        </a:rPr>
                        <a:t> </a:t>
                      </a:r>
                      <a:endParaRPr b="1">
                        <a:solidFill>
                          <a:schemeClr val="dk1"/>
                        </a:solidFill>
                        <a:highlight>
                          <a:schemeClr val="lt2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[“-C”, “A”]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Beto trbaja obligatoriamnete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(B)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[“B”]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3"/>
          <p:cNvSpPr txBox="1"/>
          <p:nvPr/>
        </p:nvSpPr>
        <p:spPr>
          <a:xfrm>
            <a:off x="952500" y="4436575"/>
            <a:ext cx="87981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Formula final (SAT)</a:t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Formula =</a:t>
            </a:r>
            <a:r>
              <a:rPr lang="en-US" sz="2100">
                <a:solidFill>
                  <a:schemeClr val="dk1"/>
                </a:solidFill>
                <a:highlight>
                  <a:schemeClr val="lt2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700">
                <a:solidFill>
                  <a:schemeClr val="dk1"/>
                </a:solidFill>
                <a:highlight>
                  <a:srgbClr val="FDF5E6"/>
                </a:highlight>
                <a:latin typeface="DM Sans"/>
                <a:ea typeface="DM Sans"/>
                <a:cs typeface="DM Sans"/>
                <a:sym typeface="DM Sans"/>
              </a:rPr>
              <a:t>[[ "A", "B", "C" ], [ "-A", "-B" ], [ "-C", "A" ], [ "B" ]]</a:t>
            </a:r>
            <a:endParaRPr sz="1700">
              <a:solidFill>
                <a:schemeClr val="dk1"/>
              </a:solidFill>
              <a:highlight>
                <a:srgbClr val="FDF5E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highlight>
                  <a:srgbClr val="FDF5E6"/>
                </a:highlight>
                <a:latin typeface="DM Sans"/>
                <a:ea typeface="DM Sans"/>
                <a:cs typeface="DM Sans"/>
                <a:sym typeface="DM Sans"/>
              </a:rPr>
              <a:t>  </a:t>
            </a:r>
            <a:endParaRPr sz="1300">
              <a:solidFill>
                <a:schemeClr val="dk1"/>
              </a:solidFill>
              <a:highlight>
                <a:srgbClr val="FDF5E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DF5E6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952500" y="5362900"/>
            <a:ext cx="51579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Solucion Unica: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Beto trabaja solo.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4176"/>
            <a:ext cx="52387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4176"/>
            <a:ext cx="5238750" cy="309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39375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393751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5. Conclusiones</a:t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545871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"La poda de ramas inviables es la clave para manejar la explosión exponencial de variables."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857250" y="3031926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Eficiencia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57250" y="3603426"/>
            <a:ext cx="46672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uso de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backtracking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reduce significativamente los nodos visitados comparado con las tablas de verdad.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667500" y="3031926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Aprendizaje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667500" y="3603426"/>
            <a:ext cx="46672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LogicCheck Lab demuestra cómo una computadora puede "razonar" sobre lógica mediante búsquedas estructuradas.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571500" y="2247900"/>
            <a:ext cx="11049000" cy="2705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25"/>
          <p:cNvGraphicFramePr/>
          <p:nvPr/>
        </p:nvGraphicFramePr>
        <p:xfrm>
          <a:off x="571500" y="2247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{8BEE9667-89D8-4707-BA23-72A43E61767D}</a:tableStyleId>
              </a:tblPr>
              <a:tblGrid>
                <a:gridCol w="2981925"/>
                <a:gridCol w="8067075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[1] Universidad Nacional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Guía LogicCheck Lab, Introducción a las Ciencias de la Computación, 2026.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[2] Carlos Orrego Franco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Manual del proyecto verificador de satisfacibilidad, Grupo 7.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[3] Recursos Algorítmicos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2D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Documentación sobre Backtracking y algoritmo DPLL.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0" name="Google Shape;280;p25"/>
          <p:cNvSpPr/>
          <p:nvPr/>
        </p:nvSpPr>
        <p:spPr>
          <a:xfrm>
            <a:off x="571500" y="3605212"/>
            <a:ext cx="29819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553420" y="3605212"/>
            <a:ext cx="80670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271962"/>
            <a:ext cx="29819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553420" y="4271962"/>
            <a:ext cx="80670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4938712"/>
            <a:ext cx="298192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553420" y="4938712"/>
            <a:ext cx="806707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6. Referencias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860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76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29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5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71500" y="28432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71500" y="36147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71500" y="3605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571500" y="3605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71500" y="4376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571500" y="4376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666875" y="30070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https://upload.wikimedia.org/wikipedia/commons/thumb/d/dc/Dpll11.png/330px-Dpll11.png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1666875" y="32279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en.wikipedia.org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1666875" y="37785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https://miro.medium.com/1*VqoJ8ypgtSzHsMsBvBQv6g.jpeg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666875" y="39994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1666875" y="45501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https://sudokubliss.com/content-uploads/mini-sudoku-grid-examples.webp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1666875" y="47709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sudokubliss.com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